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575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292608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DEVOPS CAPSTONE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BookFlow: Student Library Lending Tracker</a:t>
            </a:r>
          </a:p>
          <a:p>
            <a:pPr>
              <a:defRPr sz="1500">
                <a:solidFill>
                  <a:srgbClr val="64748B"/>
                </a:solidFill>
              </a:defRPr>
            </a:pPr>
            <a:r>
              <a:t>Cloud-Native Microservices, CI/CD, Containerization, Kubernetes &amp; Observability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931920"/>
            <a:ext cx="2743200" cy="1280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Production Grade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FastAPI + React 18 + PostgreSQL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3931920"/>
            <a:ext cx="2743200" cy="1280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Immutable Pipelines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GitHub Actions + Trivy + GHCR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3931920"/>
            <a:ext cx="2743200" cy="1280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Kubernetes Native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Helm Charts + Prometheus + Grafana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CONTEXT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Problem Statement &amp;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2/10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The Problem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• Campus Library Checkout Inefficiency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Manual book tracking causes lending delays, record mismatches, and untracked overdue loans.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Fragile Legacy Deployments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Monolithic setups suffer from host port conflicts, environment drift, and single-point-of-failure downtimes.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Lack of Operational Visibility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Zero real-time telemetry into request latency, database query bottlenecks, or service resource saturation.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The Cloud-Native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0B981"/>
                </a:solidFill>
              </a:defRPr>
            </a:pPr>
            <a:r>
              <a:t>✔ Containerized Microservices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FastAPI backend, React 18 frontend, and PostgreSQL containerized with non-root security.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Strict Automated Quality Gates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Automated Pytest testing (16/16) and Trivy vulnerability gate (0 CVEs) in GitHub Actions.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Declarative Kubernetes Orchestration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Helm package management, 2-replica High Availability, NGINX Ingress, and persistent storage.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Continuous Observability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Prometheus metrics harvesting and Grafana dashboard for live request rates and memory profiling.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ARCHITECTURE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Technology Stack &amp; Toolchain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3/10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Application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FastAPI (Python 3.11/3.13)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React 18 &amp; Vite 5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PostgreSQL 16 Engine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Alembic Migrations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SQLAlchemy 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6459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Testing &amp;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Pytest 8.3 Suite (16 Tests)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SQLite In-Memory Mock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Pre-Push Secret Scanning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Vite Production Bundler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Docker Compose Local Stack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46304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459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CI/CD &amp;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GitHub Actions Automation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Trivy CVE Container Scanner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GitHub Container Registry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Immutable Git SHA Tagging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Non-Root UID Hardening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46304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16459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K8s &amp; Observability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Kubernetes v1.31 Runtime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Helm 3 Declarative Charts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NGINX Ingress Controller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Prometheus &amp; ServiceMonitor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Grafana Live Dashboards &amp; HPA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FRONTEND &amp;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Enterprise Application &amp; Circulation Desk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4/10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Circulation Desk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• White Enterprise Palette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High-contrast clean layout inspired by modern SaaS standards (#F8FAFC canvas, crisp #FFFFFF cards, indigo accents).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Live Library KPI Deck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Instant count of Total Books (7), Available on Shelves (4), Active Loans (3), and Overdue Books (0).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Search &amp; Dynamic Category Filtering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Fast client-side search across title, author, and borrower with multi-category chips.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Interactive Loan &amp; Return Workflows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Modals for lending books to students (with roll ID &amp; loan period) and catalogue addition.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463040"/>
            <a:ext cx="6400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1-app-brow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45920"/>
            <a:ext cx="62179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SECURITY &amp;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Quality Assurance &amp; Student Loan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5/10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Automated Verification &amp;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0B981"/>
                </a:solidFill>
              </a:defRPr>
            </a:pPr>
            <a:r>
              <a:t>✔ 16/16 Pytest Test Suite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Full coverage for CRUD, health, ready, and metrics routes in 1.32s.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Zero Database Pollution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In-memory SQLite with StaticPool ensures 0 leftover test records.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Non-Root Security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Backend runs as UID 10001 (appuser); frontend runs as UID 101 (nginx).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Interactive Checkout Modal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Validates student roll IDs and dynamic loan period calculations.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463040"/>
            <a:ext cx="6400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1-loan-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691640"/>
            <a:ext cx="603504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AUTOMATED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Continuous Integration &amp; Delivery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6/10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Stage 1: Test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TRIGGER: PUSH TO 'MAIN'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Checkout repository code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Set up Python 3.11 environment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Execute 16/16 Pytest tests (blocking)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Set up Node.js 20 environment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Run npm ci &amp;&amp; npm run build (passed)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4747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6459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Stage 2: Vulnerability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SECURITY FIRST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Build Docker images for backend &amp; frontend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Run Aquasecurity Trivy CVE scanner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Strict gate: exit-code 1 on HIGH or CRITICAL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Scan Result: 0 High, 0 Critical vulnerabilities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Guarantees clean container posture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463040"/>
            <a:ext cx="34747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6459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Stage 3: GHCR Publishing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IMMUTABLE ARTIFACTS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Authenticate with GitHub Container Registry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Tag images with exact Git commit SHA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Push backend: &lt;sha&gt; to GHCR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Push frontend: &lt;sha&gt; to GHCR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Deterministic image deployment traceability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ORCHESTRATION &amp; HELM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Kubernetes &amp; Declarative Helm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7/10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Production 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• Custom Helm Chart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Modular chart in helm/bookflow with linted values (0 errors).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High Availability (5/5)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2 backend replicas + 2 frontend replicas + 1 PostgreSQL stateful pod.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Traffic Ingress Controller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NGINX Ingress routing root (/) to frontend and (/api, /metrics) to backend.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Probes &amp; Self-Healing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Liveness and readiness HTTP probes preventing traffic to unready pods.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Persistent Storage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Kubernetes PVC mount ensuring PostgreSQL data durability across restarts.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463040"/>
            <a:ext cx="6400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8-ingress-brow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691640"/>
            <a:ext cx="603504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RELIABILITY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Kubernetes Hands-On Troubleshooting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8/10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Lab 1: ImagePullBackOff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F172A"/>
                </a:solidFill>
              </a:defRPr>
            </a:pPr>
            <a:r>
              <a:t>▸ Fault Injected: Deployed broken manifest with non-existent tag :v999.999-broken.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Observed Failure: Pod entered ErrImagePull and escalated to ImagePullBackOff (0/1 ready).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Diagnosis Protocol: Inspected Kubelet events via kubectl describe pod, confirming 404 tag mismatch.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Remediation: Patched deployment with valid image tag (ghcr.io/...:local-verified). Pod recovered to Running.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Audit Evidence: Captured full CLI diagnosis log in evidence/m8-troubleshooting-image.txt.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Lab 2: Missing Endpoints Diagnosis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F172A"/>
                </a:solidFill>
              </a:defRPr>
            </a:pPr>
            <a:r>
              <a:t>▸ Fault Injected: Configured Service with typo in selector: app=bookflow-be-wrong.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Observed Failure: kubectl get endpoints returned &lt;none&gt;; curl requests received 502 Bad Gateway.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Diagnosis Protocol: Compared pod labels with Service spec.selector to isolate the label discrepancy.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Remediation: Aligned Service selector to match pod labels; endpoints immediately populated 2 IPs.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Audit Evidence: Captured full CLI diagnosis log in evidence/m8-troubleshooting-service.txt.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TELEMETRY &amp;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Full-Stack Observability &amp; Autoscaling (HPA)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9/10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Observability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• Prometheus Instrumentator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FastAPI middleware exposing http_requests_total, response latency histograms, and process metrics.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Active Scrape Target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Prometheus operator scraping the backend service every 15s (Target Health: UP).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Live 4-Panel Grafana Dashboard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Custom dashboard monitoring Request Rate (QPS), Request Latency (p95), 5xx Error Rate, and Process Memory.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Horizontal Pod Autoscaler (HPA)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Kubernetes HPA configured with 60% CPU target utilization (scales from 2 to 5 pods under spike load).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463040"/>
            <a:ext cx="6400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9-grafana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691640"/>
            <a:ext cx="603504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SUMMARY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Capstone Deliverables &amp; DevOps Mastery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10/10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✔  100% Verified Local Stack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Docker Desktop Kubernetes running 5/5 healthy pods, NGINX Ingress on port 8088, and persistent PostgreSQL storage surviving pod restarts.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6304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✔  Zero Secret Leaks &amp; $0 Cloud Costs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Automated pre-push scanner passed with 0 secret patterns; Terraform IaC statically validated without unexpected AWS charges ($0.00 spent).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✔  Production CI/CD Automation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GitHub Actions pipeline with 16/16 Pytest blocking gate, Trivy CVE security checks (0 CVEs), and immutable GHCR image tags.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93192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✔  Observability &amp; 37 Evidence Artifacts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Prometheus metrics scraping with target status UP, live 4-panel Grafana dashboard, HPA dynamic scaling, and 37 comprehensive evidence files.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